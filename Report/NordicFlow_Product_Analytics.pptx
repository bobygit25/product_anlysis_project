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2538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DB8C6-355A-8429-C9CF-5DA902FE6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6A408B-97CB-BE84-CFD6-805F2AD2F2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DF045-CB42-4FAF-3FDC-ED8DDBBBF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4C8F9-EBE0-A2D4-C12A-A7D314629D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927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858000" cy="6858000"/>
          </a:xfrm>
          <a:prstGeom prst="ellipse">
            <a:avLst/>
          </a:prstGeom>
          <a:solidFill>
            <a:srgbClr val="0A4C7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5029200" cy="5029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03120" y="4206240"/>
            <a:ext cx="4937760" cy="493776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ANALYTICS CASE STUDY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NordicFlow CRM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364992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Business Problem to Actionable Insight — A Raw-to-Dashboard Analytics Build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6052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416052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0A4C74"/>
          </a:solidFill>
          <a:ln/>
        </p:spPr>
      </p:sp>
      <p:sp>
        <p:nvSpPr>
          <p:cNvPr id="11" name="Text 9"/>
          <p:cNvSpPr/>
          <p:nvPr/>
        </p:nvSpPr>
        <p:spPr>
          <a:xfrm>
            <a:off x="2377440" y="416052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03320" y="416052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416052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5989320"/>
            <a:ext cx="2926080" cy="0"/>
          </a:xfrm>
          <a:prstGeom prst="line">
            <a:avLst/>
          </a:prstGeom>
          <a:noFill/>
          <a:ln w="12700">
            <a:solidFill>
              <a:srgbClr val="3A55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1081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end-to-end analytics build: Raw data → Python cleaning → SQL gold layer → Power BI dashboard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HEADED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960120" cy="896112"/>
          </a:xfrm>
          <a:prstGeom prst="roundRect">
            <a:avLst>
              <a:gd name="adj" fmla="val 10204"/>
            </a:avLst>
          </a:prstGeom>
          <a:solidFill>
            <a:srgbClr val="0A4C7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9601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37360" y="178308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214884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NordicFlow is, and the challenges pushing them toward product analytics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110642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770632"/>
            <a:ext cx="960120" cy="896112"/>
          </a:xfrm>
          <a:prstGeom prst="roundRect">
            <a:avLst>
              <a:gd name="adj" fmla="val 10204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70632"/>
            <a:ext cx="9601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37360" y="2862072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37360" y="3227832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raw data became a governed, decision-ready dashboard — Python, SQL, Power BI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49624"/>
            <a:ext cx="110642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849624"/>
            <a:ext cx="960120" cy="896112"/>
          </a:xfrm>
          <a:prstGeom prst="roundRect">
            <a:avLst>
              <a:gd name="adj" fmla="val 10204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49624"/>
            <a:ext cx="9601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737360" y="3941064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37360" y="4306824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actually shows about accounts, activation, channels and churn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928616"/>
            <a:ext cx="110642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928616"/>
            <a:ext cx="960120" cy="896112"/>
          </a:xfrm>
          <a:prstGeom prst="roundRect">
            <a:avLst>
              <a:gd name="adj" fmla="val 10204"/>
            </a:avLst>
          </a:prstGeom>
          <a:solidFill>
            <a:srgbClr val="E8944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928616"/>
            <a:ext cx="9601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737360" y="5020056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Conclusion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737360" y="5385816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NordicFlow should do next, grounded in the evidence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NordicFlow CRM  |  Product Analytics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NordicFlow CRM?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NordicFlow CRM </a:t>
            </a:r>
            <a:r>
              <a:rPr lang="en-US" sz="13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Copenhagen-based, European B2B SaaS company that sells a subscription CRM platform to small and mid-sized businesses (roughly 20–300 employees).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market position: </a:t>
            </a:r>
            <a:r>
              <a:rPr lang="en-US" sz="13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GDPR-first alternative to US platforms — competing on usability, workflow design, and compliance rather than feature parity with global incumbents.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tension: </a:t>
            </a:r>
            <a:r>
              <a:rPr lang="en-US" sz="13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in and clicking around isn't the same as running your sales process through NordicFlow. Activity is not value — and that distinction shapes every metric in this project.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0" y="1600200"/>
            <a:ext cx="4343400" cy="4617720"/>
          </a:xfrm>
          <a:prstGeom prst="roundRect">
            <a:avLst>
              <a:gd name="adj" fmla="val 2526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8288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635240" y="2240280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35240" y="245059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Copenhagen, Denmark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635240" y="2807208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35240" y="301752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635240" y="3374136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635240" y="3584448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B2B CRM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35240" y="3941064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SIZE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35240" y="4151376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~20–300 employees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35240" y="4507992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35240" y="4718304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GDPR-first, privacy-led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635240" y="5074920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INDUSTRIES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35240" y="528523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SaaS, Prof. Services, Logistics,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Manufacturing, B2B Agencies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NordicFlow CRM  |  Product Analytics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Challenges Driving This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70048" cy="3657600"/>
          </a:xfrm>
          <a:prstGeom prst="roundRect">
            <a:avLst>
              <a:gd name="adj" fmla="val 3425"/>
            </a:avLst>
          </a:prstGeom>
          <a:solidFill>
            <a:srgbClr val="10203A"/>
          </a:solidFill>
          <a:ln w="12700">
            <a:solidFill>
              <a:srgbClr val="2740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214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214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2880360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Activation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3566160"/>
            <a:ext cx="21579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signups are climbing steadily, but a meaningful share of new accounts never reach real day-to-day usage.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9856" y="1828800"/>
            <a:ext cx="2670048" cy="3657600"/>
          </a:xfrm>
          <a:prstGeom prst="roundRect">
            <a:avLst>
              <a:gd name="adj" fmla="val 3425"/>
            </a:avLst>
          </a:prstGeom>
          <a:solidFill>
            <a:srgbClr val="10203A"/>
          </a:solidFill>
          <a:ln w="12700">
            <a:solidFill>
              <a:srgbClr val="2740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75888" y="21214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A4C74"/>
          </a:solidFill>
          <a:ln/>
        </p:spPr>
      </p:sp>
      <p:sp>
        <p:nvSpPr>
          <p:cNvPr id="11" name="Text 9"/>
          <p:cNvSpPr/>
          <p:nvPr/>
        </p:nvSpPr>
        <p:spPr>
          <a:xfrm>
            <a:off x="3675888" y="21214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75888" y="2880360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Mistaken for Value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75888" y="3566160"/>
            <a:ext cx="21579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log in without touching pipeline, deal progression, or automation — surface activity looks like engagement, but isn't.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91072" y="1828800"/>
            <a:ext cx="2670048" cy="3657600"/>
          </a:xfrm>
          <a:prstGeom prst="roundRect">
            <a:avLst>
              <a:gd name="adj" fmla="val 3425"/>
            </a:avLst>
          </a:prstGeom>
          <a:solidFill>
            <a:srgbClr val="10203A"/>
          </a:solidFill>
          <a:ln w="12700">
            <a:solidFill>
              <a:srgbClr val="2740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47104" y="21214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E8944A"/>
          </a:solidFill>
          <a:ln/>
        </p:spPr>
      </p:sp>
      <p:sp>
        <p:nvSpPr>
          <p:cNvPr id="16" name="Text 14"/>
          <p:cNvSpPr/>
          <p:nvPr/>
        </p:nvSpPr>
        <p:spPr>
          <a:xfrm>
            <a:off x="6547104" y="21214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47104" y="2880360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Churn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547104" y="3566160"/>
            <a:ext cx="21579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emerging among smaller customers, usually because they fail to realize value quickly enough — not because of missing features.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62288" y="1828800"/>
            <a:ext cx="2670048" cy="3657600"/>
          </a:xfrm>
          <a:prstGeom prst="roundRect">
            <a:avLst>
              <a:gd name="adj" fmla="val 3425"/>
            </a:avLst>
          </a:prstGeom>
          <a:solidFill>
            <a:srgbClr val="10203A"/>
          </a:solidFill>
          <a:ln w="12700">
            <a:solidFill>
              <a:srgbClr val="2740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0" y="21214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21214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418320" y="2880360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Conflicting Dashboards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418320" y="3566160"/>
            <a:ext cx="21579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teams pull different numbers from the same data, making it hard for leadership to prioritize or measure impact.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NordicFlow CRM  |  Product Analytics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Objective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766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fragmented raw data into a single, trusted view of how customers actually adopt NordicFlow — so leadership can act on evidence instead of opinion.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3410712"/>
            <a:ext cx="128016" cy="128016"/>
          </a:xfrm>
          <a:prstGeom prst="ellipse">
            <a:avLst/>
          </a:prstGeom>
          <a:solidFill>
            <a:srgbClr val="E894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28269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trusted, consistent metrics for activation, engagement and churn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3867912"/>
            <a:ext cx="128016" cy="128016"/>
          </a:xfrm>
          <a:prstGeom prst="ellipse">
            <a:avLst/>
          </a:prstGeom>
          <a:solidFill>
            <a:srgbClr val="E8944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3989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assumptions explicit so results are interpreted the same way across teams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4325112"/>
            <a:ext cx="128016" cy="128016"/>
          </a:xfrm>
          <a:prstGeom prst="ellipse">
            <a:avLst/>
          </a:prstGeom>
          <a:solidFill>
            <a:srgbClr val="E8944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19709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activation and churn happen — not just report the numbers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4782312"/>
            <a:ext cx="128016" cy="128016"/>
          </a:xfrm>
          <a:prstGeom prst="ellipse">
            <a:avLst/>
          </a:prstGeom>
          <a:solidFill>
            <a:srgbClr val="E8944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65429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governed data pipeline that any team can query with confidence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35240" y="1691640"/>
            <a:ext cx="4023360" cy="3977640"/>
          </a:xfrm>
          <a:prstGeom prst="roundRect">
            <a:avLst>
              <a:gd name="adj" fmla="val 2759"/>
            </a:avLst>
          </a:prstGeom>
          <a:solidFill>
            <a:srgbClr val="0A4C74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0" y="1965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THIS BUILD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55280" y="237744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955280" y="30358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analyzed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55280" y="321868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955280" y="38770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 tracked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55280" y="4059936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955280" y="471830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 (Gold layer)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55280" y="4901184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955280" y="55595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report pages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NordicFlow CRM  |  Product Analytics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Three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exports were carried through a Bronze → Silver → Gold model before ever reaching a chart — each stage adding trust, not just transformation.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331720"/>
            <a:ext cx="23317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31720"/>
            <a:ext cx="2331720" cy="457200"/>
          </a:xfrm>
          <a:prstGeom prst="roundRect">
            <a:avLst>
              <a:gd name="adj" fmla="val 20000"/>
            </a:avLst>
          </a:prstGeom>
          <a:solidFill>
            <a:srgbClr val="8FA6BC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606040"/>
            <a:ext cx="2331720" cy="182880"/>
          </a:xfrm>
          <a:prstGeom prst="rect">
            <a:avLst/>
          </a:prstGeom>
          <a:solidFill>
            <a:srgbClr val="8FA6B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31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Excel exports: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users, deals,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events, geography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233172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11880" y="2331720"/>
            <a:ext cx="23317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11880" y="2331720"/>
            <a:ext cx="233172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3611880" y="2606040"/>
            <a:ext cx="2331720" cy="182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2331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49040" y="2926080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 cleaning,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&amp; enrichment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233172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46520" y="2331720"/>
            <a:ext cx="23317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2331720"/>
            <a:ext cx="2331720" cy="457200"/>
          </a:xfrm>
          <a:prstGeom prst="roundRect">
            <a:avLst>
              <a:gd name="adj" fmla="val 20000"/>
            </a:avLst>
          </a:prstGeom>
          <a:solidFill>
            <a:srgbClr val="0A4C74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2606040"/>
            <a:ext cx="2331720" cy="182880"/>
          </a:xfrm>
          <a:prstGeom prst="rect">
            <a:avLst/>
          </a:prstGeom>
          <a:solidFill>
            <a:srgbClr val="0A4C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331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0" y="2926080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modeling into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&amp; dimension tables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78240" y="233172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281160" y="2331720"/>
            <a:ext cx="23317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81160" y="2331720"/>
            <a:ext cx="23317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25" name="Shape 23"/>
          <p:cNvSpPr/>
          <p:nvPr/>
        </p:nvSpPr>
        <p:spPr>
          <a:xfrm>
            <a:off x="9281160" y="2606040"/>
            <a:ext cx="2331720" cy="1828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9281160" y="2331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18320" y="2926080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report: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pages, live KPIs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" y="4709160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F5F8FA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" y="4882896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1280160" y="470916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Pandas, NumPy, SQLAlchemy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480560" y="4709160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F5F8FA"/>
          </a:solidFill>
          <a:ln w="15875">
            <a:solidFill>
              <a:srgbClr val="0A4C7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4882896"/>
            <a:ext cx="219456" cy="219456"/>
          </a:xfrm>
          <a:prstGeom prst="ellipse">
            <a:avLst/>
          </a:prstGeom>
          <a:solidFill>
            <a:srgbClr val="0A4C74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470916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MySQL gold-layer analytics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183880" y="4709160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F5F8FA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66760" y="4882896"/>
            <a:ext cx="219456" cy="21945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6" name="Text 34"/>
          <p:cNvSpPr/>
          <p:nvPr/>
        </p:nvSpPr>
        <p:spPr>
          <a:xfrm>
            <a:off x="8686800" y="470916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report design &amp; DAX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NordicFlow CRM  |  Product Analytics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— STEP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Shaping the Data in Python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raw sources — accounts, users, deals, and product events — were profiled and cleaned with Pandas before loading into the Silver layer (MySQL).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70048" cy="39319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76200" dist="25400" dir="5400000" algn="bl" rotWithShape="0">
              <a:srgbClr val="1B2A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2768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276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2862072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&amp; Inspect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" y="349300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" y="3374136"/>
            <a:ext cx="2048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shape, dtypes, nulls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6384" y="427939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69264" y="4160520"/>
            <a:ext cx="2048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distributions with .describe()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" y="506577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969264" y="4946904"/>
            <a:ext cx="2048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records missing key fields (e.g. industry)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19856" y="2057400"/>
            <a:ext cx="2670048" cy="39319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76200" dist="25400" dir="5400000" algn="bl" rotWithShape="0">
              <a:srgbClr val="1B2A3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21024" y="22768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A4C74"/>
          </a:solidFill>
          <a:ln/>
        </p:spPr>
      </p:sp>
      <p:sp>
        <p:nvSpPr>
          <p:cNvPr id="17" name="Text 15"/>
          <p:cNvSpPr/>
          <p:nvPr/>
        </p:nvSpPr>
        <p:spPr>
          <a:xfrm>
            <a:off x="3621024" y="2276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21024" y="2862072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0" y="3493008"/>
            <a:ext cx="82296" cy="82296"/>
          </a:xfrm>
          <a:prstGeom prst="ellipse">
            <a:avLst/>
          </a:prstGeom>
          <a:solidFill>
            <a:srgbClr val="0A4C74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3374136"/>
            <a:ext cx="2048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 whitespace in text fields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0" y="4279392"/>
            <a:ext cx="82296" cy="82296"/>
          </a:xfrm>
          <a:prstGeom prst="ellipse">
            <a:avLst/>
          </a:prstGeom>
          <a:solidFill>
            <a:srgbClr val="0A4C74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4160520"/>
            <a:ext cx="2048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category labels (product-led → product_led)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0" y="5065776"/>
            <a:ext cx="82296" cy="82296"/>
          </a:xfrm>
          <a:prstGeom prst="ellipse">
            <a:avLst/>
          </a:prstGeom>
          <a:solidFill>
            <a:srgbClr val="0A4C74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0" y="4946904"/>
            <a:ext cx="2048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inconsistent country codes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91072" y="2057400"/>
            <a:ext cx="2670048" cy="39319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76200" dist="25400" dir="5400000" algn="bl" rotWithShape="0">
              <a:srgbClr val="1B2A3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92240" y="22768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2276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92240" y="2862072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 &amp; Model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28816" y="3493008"/>
            <a:ext cx="82296" cy="8229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0" name="Text 28"/>
          <p:cNvSpPr/>
          <p:nvPr/>
        </p:nvSpPr>
        <p:spPr>
          <a:xfrm>
            <a:off x="6711696" y="3374136"/>
            <a:ext cx="2048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date fields (trial, deal, activity dates)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28816" y="4279392"/>
            <a:ext cx="82296" cy="8229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2" name="Text 30"/>
          <p:cNvSpPr/>
          <p:nvPr/>
        </p:nvSpPr>
        <p:spPr>
          <a:xfrm>
            <a:off x="6711696" y="4160520"/>
            <a:ext cx="2048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trial length, sales-cycle days, recency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528816" y="5065776"/>
            <a:ext cx="82296" cy="8229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4" name="Text 32"/>
          <p:cNvSpPr/>
          <p:nvPr/>
        </p:nvSpPr>
        <p:spPr>
          <a:xfrm>
            <a:off x="6711696" y="4946904"/>
            <a:ext cx="2048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accounts to a geography lookup table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134856" y="2063496"/>
            <a:ext cx="2670048" cy="39319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76200" dist="25400" dir="54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9363456" y="22768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944A"/>
          </a:solidFill>
          <a:ln/>
        </p:spPr>
      </p:sp>
      <p:sp>
        <p:nvSpPr>
          <p:cNvPr id="37" name="Text 35"/>
          <p:cNvSpPr/>
          <p:nvPr/>
        </p:nvSpPr>
        <p:spPr>
          <a:xfrm>
            <a:off x="9363456" y="2276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363456" y="2862072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to Silver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400032" y="3493008"/>
            <a:ext cx="82296" cy="82296"/>
          </a:xfrm>
          <a:prstGeom prst="ellipse">
            <a:avLst/>
          </a:prstGeom>
          <a:solidFill>
            <a:srgbClr val="E8944A"/>
          </a:solidFill>
          <a:ln/>
        </p:spPr>
      </p:sp>
      <p:sp>
        <p:nvSpPr>
          <p:cNvPr id="40" name="Text 38"/>
          <p:cNvSpPr/>
          <p:nvPr/>
        </p:nvSpPr>
        <p:spPr>
          <a:xfrm>
            <a:off x="9482328" y="3206496"/>
            <a:ext cx="2148840" cy="94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clean frames to MySQL via SQLAlchemy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400032" y="4279392"/>
            <a:ext cx="82296" cy="82296"/>
          </a:xfrm>
          <a:prstGeom prst="ellipse">
            <a:avLst/>
          </a:prstGeom>
          <a:solidFill>
            <a:srgbClr val="E8944A"/>
          </a:solidFill>
          <a:ln/>
        </p:spPr>
      </p:sp>
      <p:sp>
        <p:nvSpPr>
          <p:cNvPr id="42" name="Text 40"/>
          <p:cNvSpPr/>
          <p:nvPr/>
        </p:nvSpPr>
        <p:spPr>
          <a:xfrm>
            <a:off x="9482328" y="3810000"/>
            <a:ext cx="2148840" cy="112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silver_dim_accounts / _users / _deals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400032" y="5065776"/>
            <a:ext cx="82296" cy="82296"/>
          </a:xfrm>
          <a:prstGeom prst="ellipse">
            <a:avLst/>
          </a:prstGeom>
          <a:solidFill>
            <a:srgbClr val="E8944A"/>
          </a:solidFill>
          <a:ln/>
        </p:spPr>
      </p:sp>
      <p:sp>
        <p:nvSpPr>
          <p:cNvPr id="44" name="Text 42"/>
          <p:cNvSpPr/>
          <p:nvPr/>
        </p:nvSpPr>
        <p:spPr>
          <a:xfrm>
            <a:off x="9564624" y="4779264"/>
            <a:ext cx="2066544" cy="94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silver_product_event for behavioral data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NordicFlow CRM  |  Product Analytics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— STEP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SQL: Establishing the Core KPIs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data landed in the Gold layer (gold_fact_accounts, gold_fact_users, gold_fact_product_event), SQL queries produced the platform's headline numbers.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889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04288"/>
            <a:ext cx="2880360" cy="1600200"/>
          </a:xfrm>
          <a:prstGeom prst="roundRect">
            <a:avLst>
              <a:gd name="adj" fmla="val 3429"/>
            </a:avLst>
          </a:prstGeom>
          <a:solidFill>
            <a:srgbClr val="F7FAFC"/>
          </a:solidFill>
          <a:ln w="9525">
            <a:solidFill>
              <a:srgbClr val="DCE6ED"/>
            </a:solidFill>
            <a:prstDash val="solid"/>
          </a:ln>
        </p:spPr>
      </p:sp>
      <p:pic>
        <p:nvPicPr>
          <p:cNvPr id="7" name="Image 0" descr="/home/claude/work/assets/sql_total_accou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904" y="2441448"/>
            <a:ext cx="1452472" cy="1325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99592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 · TOTAL ACCOUNTS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22960" y="4361688"/>
            <a:ext cx="2880360" cy="0"/>
          </a:xfrm>
          <a:prstGeom prst="line">
            <a:avLst/>
          </a:prstGeom>
          <a:noFill/>
          <a:ln w="12700">
            <a:solidFill>
              <a:srgbClr val="DCE6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471416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A4C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822960" y="542239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accounts on the platform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224528" y="201168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889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98848" y="2304288"/>
            <a:ext cx="2880360" cy="1600200"/>
          </a:xfrm>
          <a:prstGeom prst="roundRect">
            <a:avLst>
              <a:gd name="adj" fmla="val 3429"/>
            </a:avLst>
          </a:prstGeom>
          <a:solidFill>
            <a:srgbClr val="F7FAFC"/>
          </a:solidFill>
          <a:ln w="9525">
            <a:solidFill>
              <a:srgbClr val="DCE6ED"/>
            </a:solidFill>
            <a:prstDash val="solid"/>
          </a:ln>
        </p:spPr>
      </p:sp>
      <p:pic>
        <p:nvPicPr>
          <p:cNvPr id="14" name="Image 1" descr="/home/claude/work/assets/sql_active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2479125"/>
            <a:ext cx="2880360" cy="125052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98848" y="399592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 · ACTIVE USERS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498848" y="4361688"/>
            <a:ext cx="2880360" cy="0"/>
          </a:xfrm>
          <a:prstGeom prst="line">
            <a:avLst/>
          </a:prstGeom>
          <a:noFill/>
          <a:ln w="12700">
            <a:solidFill>
              <a:srgbClr val="DCE6E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498848" y="4471416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352</a:t>
            </a:r>
            <a:endParaRPr lang="en-US" sz="4400" dirty="0"/>
          </a:p>
        </p:txBody>
      </p:sp>
      <p:sp>
        <p:nvSpPr>
          <p:cNvPr id="18" name="Text 14"/>
          <p:cNvSpPr/>
          <p:nvPr/>
        </p:nvSpPr>
        <p:spPr>
          <a:xfrm>
            <a:off x="4498848" y="542239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currently active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7900416" y="201168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889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74736" y="2304288"/>
            <a:ext cx="2880360" cy="1600200"/>
          </a:xfrm>
          <a:prstGeom prst="roundRect">
            <a:avLst>
              <a:gd name="adj" fmla="val 3429"/>
            </a:avLst>
          </a:prstGeom>
          <a:solidFill>
            <a:srgbClr val="F7FAFC"/>
          </a:solidFill>
          <a:ln w="9525">
            <a:solidFill>
              <a:srgbClr val="DCE6ED"/>
            </a:solidFill>
            <a:prstDash val="solid"/>
          </a:ln>
        </p:spPr>
      </p:sp>
      <p:pic>
        <p:nvPicPr>
          <p:cNvPr id="21" name="Image 2" descr="/home/claude/work/assets/sql_activation_over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591" y="2441448"/>
            <a:ext cx="2586650" cy="1325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74736" y="399592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8 · ACTIVATION RATE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8174736" y="4361688"/>
            <a:ext cx="2880360" cy="0"/>
          </a:xfrm>
          <a:prstGeom prst="line">
            <a:avLst/>
          </a:prstGeom>
          <a:noFill/>
          <a:ln w="12700">
            <a:solidFill>
              <a:srgbClr val="DCE6E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174736" y="4471416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9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4400" dirty="0"/>
          </a:p>
        </p:txBody>
      </p:sp>
      <p:sp>
        <p:nvSpPr>
          <p:cNvPr id="25" name="Text 20"/>
          <p:cNvSpPr/>
          <p:nvPr/>
        </p:nvSpPr>
        <p:spPr>
          <a:xfrm>
            <a:off x="8174736" y="542239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admin-activation rate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NordicFlow CRM  |  Product Analytics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— STEP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SQL: Segmenting Accounts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and window-style aggregation queries broke the account base down by industry and geography to spot where volume — and risk — concentrates.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88900" dist="254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3566160" cy="237744"/>
          </a:xfrm>
          <a:prstGeom prst="roundRect">
            <a:avLst>
              <a:gd name="adj" fmla="val 30769"/>
            </a:avLst>
          </a:prstGeom>
          <a:solidFill>
            <a:srgbClr val="EDF2F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84832"/>
            <a:ext cx="3566160" cy="118872"/>
          </a:xfrm>
          <a:prstGeom prst="rect">
            <a:avLst/>
          </a:prstGeom>
          <a:solidFill>
            <a:srgbClr val="EDF2F6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2048256"/>
            <a:ext cx="73152" cy="73152"/>
          </a:xfrm>
          <a:prstGeom prst="ellipse">
            <a:avLst/>
          </a:prstGeom>
          <a:solidFill>
            <a:srgbClr val="E0645B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048256"/>
            <a:ext cx="73152" cy="7315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0" name="Shape 8"/>
          <p:cNvSpPr/>
          <p:nvPr/>
        </p:nvSpPr>
        <p:spPr>
          <a:xfrm>
            <a:off x="987552" y="2048256"/>
            <a:ext cx="73152" cy="73152"/>
          </a:xfrm>
          <a:prstGeom prst="ellipse">
            <a:avLst/>
          </a:prstGeom>
          <a:solidFill>
            <a:srgbClr val="5FBE72"/>
          </a:solidFill>
          <a:ln/>
        </p:spPr>
      </p:sp>
      <p:pic>
        <p:nvPicPr>
          <p:cNvPr id="11" name="Image 0" descr="/home/claude/work/assets/sql_accounts_by_indus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491038"/>
            <a:ext cx="3310128" cy="21411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48640" y="4882896"/>
            <a:ext cx="3566160" cy="329184"/>
          </a:xfrm>
          <a:prstGeom prst="rect">
            <a:avLst/>
          </a:prstGeom>
          <a:solidFill>
            <a:srgbClr val="0A4C74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4882896"/>
            <a:ext cx="3346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 — Accounts by Industry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43400" y="1965960"/>
            <a:ext cx="340156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88900" dist="254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43400" y="1965960"/>
            <a:ext cx="3401568" cy="237744"/>
          </a:xfrm>
          <a:prstGeom prst="roundRect">
            <a:avLst>
              <a:gd name="adj" fmla="val 30769"/>
            </a:avLst>
          </a:prstGeom>
          <a:solidFill>
            <a:srgbClr val="EDF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4343400" y="2084832"/>
            <a:ext cx="3401568" cy="118872"/>
          </a:xfrm>
          <a:prstGeom prst="rect">
            <a:avLst/>
          </a:prstGeom>
          <a:solidFill>
            <a:srgbClr val="EDF2F6"/>
          </a:solidFill>
          <a:ln/>
        </p:spPr>
      </p:sp>
      <p:sp>
        <p:nvSpPr>
          <p:cNvPr id="17" name="Shape 14"/>
          <p:cNvSpPr/>
          <p:nvPr/>
        </p:nvSpPr>
        <p:spPr>
          <a:xfrm>
            <a:off x="4453128" y="2048256"/>
            <a:ext cx="73152" cy="73152"/>
          </a:xfrm>
          <a:prstGeom prst="ellipse">
            <a:avLst/>
          </a:prstGeom>
          <a:solidFill>
            <a:srgbClr val="E0645B"/>
          </a:solidFill>
          <a:ln/>
        </p:spPr>
      </p:sp>
      <p:sp>
        <p:nvSpPr>
          <p:cNvPr id="18" name="Shape 15"/>
          <p:cNvSpPr/>
          <p:nvPr/>
        </p:nvSpPr>
        <p:spPr>
          <a:xfrm>
            <a:off x="4617720" y="2048256"/>
            <a:ext cx="73152" cy="7315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9" name="Shape 16"/>
          <p:cNvSpPr/>
          <p:nvPr/>
        </p:nvSpPr>
        <p:spPr>
          <a:xfrm>
            <a:off x="4782312" y="2048256"/>
            <a:ext cx="73152" cy="73152"/>
          </a:xfrm>
          <a:prstGeom prst="ellipse">
            <a:avLst/>
          </a:prstGeom>
          <a:solidFill>
            <a:srgbClr val="5FBE72"/>
          </a:solidFill>
          <a:ln/>
        </p:spPr>
      </p:sp>
      <p:pic>
        <p:nvPicPr>
          <p:cNvPr id="20" name="Image 1" descr="/home/claude/work/assets/sql_top5_countr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2536036"/>
            <a:ext cx="3145536" cy="2051104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343400" y="4882896"/>
            <a:ext cx="3401568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18"/>
          <p:cNvSpPr/>
          <p:nvPr/>
        </p:nvSpPr>
        <p:spPr>
          <a:xfrm>
            <a:off x="4453128" y="4882896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4 — Top 5 Countries by Volume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7973568" y="196596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88900" dist="254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973568" y="1965960"/>
            <a:ext cx="3383280" cy="237744"/>
          </a:xfrm>
          <a:prstGeom prst="roundRect">
            <a:avLst>
              <a:gd name="adj" fmla="val 30769"/>
            </a:avLst>
          </a:prstGeom>
          <a:solidFill>
            <a:srgbClr val="EDF2F6"/>
          </a:solidFill>
          <a:ln/>
        </p:spPr>
      </p:sp>
      <p:sp>
        <p:nvSpPr>
          <p:cNvPr id="25" name="Shape 21"/>
          <p:cNvSpPr/>
          <p:nvPr/>
        </p:nvSpPr>
        <p:spPr>
          <a:xfrm>
            <a:off x="7973568" y="2084832"/>
            <a:ext cx="3383280" cy="118872"/>
          </a:xfrm>
          <a:prstGeom prst="rect">
            <a:avLst/>
          </a:prstGeom>
          <a:solidFill>
            <a:srgbClr val="EDF2F6"/>
          </a:solidFill>
          <a:ln/>
        </p:spPr>
      </p:sp>
      <p:sp>
        <p:nvSpPr>
          <p:cNvPr id="26" name="Shape 22"/>
          <p:cNvSpPr/>
          <p:nvPr/>
        </p:nvSpPr>
        <p:spPr>
          <a:xfrm>
            <a:off x="8083296" y="2048256"/>
            <a:ext cx="73152" cy="73152"/>
          </a:xfrm>
          <a:prstGeom prst="ellipse">
            <a:avLst/>
          </a:prstGeom>
          <a:solidFill>
            <a:srgbClr val="E0645B"/>
          </a:solidFill>
          <a:ln/>
        </p:spPr>
      </p:sp>
      <p:sp>
        <p:nvSpPr>
          <p:cNvPr id="27" name="Shape 23"/>
          <p:cNvSpPr/>
          <p:nvPr/>
        </p:nvSpPr>
        <p:spPr>
          <a:xfrm>
            <a:off x="8247888" y="2048256"/>
            <a:ext cx="73152" cy="7315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8" name="Shape 24"/>
          <p:cNvSpPr/>
          <p:nvPr/>
        </p:nvSpPr>
        <p:spPr>
          <a:xfrm>
            <a:off x="8412480" y="2048256"/>
            <a:ext cx="73152" cy="73152"/>
          </a:xfrm>
          <a:prstGeom prst="ellipse">
            <a:avLst/>
          </a:prstGeom>
          <a:solidFill>
            <a:srgbClr val="5FBE72"/>
          </a:solidFill>
          <a:ln/>
        </p:spPr>
      </p:sp>
      <p:pic>
        <p:nvPicPr>
          <p:cNvPr id="29" name="Image 2" descr="/home/claude/work/assets/sql_churn_by_count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584" y="2682370"/>
            <a:ext cx="3127248" cy="1758436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7973568" y="4882896"/>
            <a:ext cx="3383280" cy="329184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1" name="Text 26"/>
          <p:cNvSpPr/>
          <p:nvPr/>
        </p:nvSpPr>
        <p:spPr>
          <a:xfrm>
            <a:off x="8083296" y="488289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5 — Active vs. Churned by Country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Services and SaaS lead by industry volume, </a:t>
            </a:r>
            <a:r>
              <a:rPr lang="en-US" sz="12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France, Sweden and Denmark are the three largest markets — and two of them also carry the highest churn (see next slides).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NordicFlow CRM  |  Product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— STEP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SQL: What Drives Activation?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accounts to product-event activity isolated which acquisition channels and industries actually convert signups into activated, admin-configured accounts.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88900" dist="254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5349240" cy="237744"/>
          </a:xfrm>
          <a:prstGeom prst="roundRect">
            <a:avLst>
              <a:gd name="adj" fmla="val 30769"/>
            </a:avLst>
          </a:prstGeom>
          <a:solidFill>
            <a:srgbClr val="EDF2F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84832"/>
            <a:ext cx="5349240" cy="118872"/>
          </a:xfrm>
          <a:prstGeom prst="rect">
            <a:avLst/>
          </a:prstGeom>
          <a:solidFill>
            <a:srgbClr val="EDF2F6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2048256"/>
            <a:ext cx="73152" cy="73152"/>
          </a:xfrm>
          <a:prstGeom prst="ellipse">
            <a:avLst/>
          </a:prstGeom>
          <a:solidFill>
            <a:srgbClr val="E0645B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048256"/>
            <a:ext cx="73152" cy="7315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0" name="Shape 8"/>
          <p:cNvSpPr/>
          <p:nvPr/>
        </p:nvSpPr>
        <p:spPr>
          <a:xfrm>
            <a:off x="987552" y="2048256"/>
            <a:ext cx="73152" cy="73152"/>
          </a:xfrm>
          <a:prstGeom prst="ellipse">
            <a:avLst/>
          </a:prstGeom>
          <a:solidFill>
            <a:srgbClr val="5FBE72"/>
          </a:solidFill>
          <a:ln/>
        </p:spPr>
      </p:sp>
      <p:pic>
        <p:nvPicPr>
          <p:cNvPr id="11" name="Image 0" descr="/home/claude/work/assets/sql_channel_acti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428611"/>
            <a:ext cx="5093208" cy="176303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48640" y="4379976"/>
            <a:ext cx="5349240" cy="329184"/>
          </a:xfrm>
          <a:prstGeom prst="rect">
            <a:avLst/>
          </a:prstGeom>
          <a:solidFill>
            <a:srgbClr val="0A4C74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4379976"/>
            <a:ext cx="5129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6 — Activated Accounts by Acquisition Channel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35040" y="196596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88900" dist="254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35040" y="1965960"/>
            <a:ext cx="5349240" cy="237744"/>
          </a:xfrm>
          <a:prstGeom prst="roundRect">
            <a:avLst>
              <a:gd name="adj" fmla="val 30769"/>
            </a:avLst>
          </a:prstGeom>
          <a:solidFill>
            <a:srgbClr val="EDF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6035040" y="2084832"/>
            <a:ext cx="5349240" cy="118872"/>
          </a:xfrm>
          <a:prstGeom prst="rect">
            <a:avLst/>
          </a:prstGeom>
          <a:solidFill>
            <a:srgbClr val="EDF2F6"/>
          </a:solidFill>
          <a:ln/>
        </p:spPr>
      </p:sp>
      <p:sp>
        <p:nvSpPr>
          <p:cNvPr id="17" name="Shape 14"/>
          <p:cNvSpPr/>
          <p:nvPr/>
        </p:nvSpPr>
        <p:spPr>
          <a:xfrm>
            <a:off x="6144768" y="2048256"/>
            <a:ext cx="73152" cy="73152"/>
          </a:xfrm>
          <a:prstGeom prst="ellipse">
            <a:avLst/>
          </a:prstGeom>
          <a:solidFill>
            <a:srgbClr val="E0645B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0" y="2048256"/>
            <a:ext cx="73152" cy="7315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9" name="Shape 16"/>
          <p:cNvSpPr/>
          <p:nvPr/>
        </p:nvSpPr>
        <p:spPr>
          <a:xfrm>
            <a:off x="6473952" y="2048256"/>
            <a:ext cx="73152" cy="73152"/>
          </a:xfrm>
          <a:prstGeom prst="ellipse">
            <a:avLst/>
          </a:prstGeom>
          <a:solidFill>
            <a:srgbClr val="5FBE72"/>
          </a:solidFill>
          <a:ln/>
        </p:spPr>
      </p:sp>
      <p:pic>
        <p:nvPicPr>
          <p:cNvPr id="20" name="Image 1" descr="/home/claude/work/assets/sql_activation_by_indust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882" y="2295144"/>
            <a:ext cx="3899556" cy="344728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035040" y="5797296"/>
            <a:ext cx="5349240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18"/>
          <p:cNvSpPr/>
          <p:nvPr/>
        </p:nvSpPr>
        <p:spPr>
          <a:xfrm>
            <a:off x="6144768" y="5797296"/>
            <a:ext cx="5129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7 — Activation Rate by Industry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48640" y="48920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Sales-led and content channels activate the most accounts. </a:t>
            </a:r>
            <a:r>
              <a:rPr lang="en-US" sz="11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rate varies sharply by industry — SaaS converts best, Professional Services and B2B Agency lag furthest behind.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/ MySQL query results, SQL_queries.sql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NordicFlow CRM  |  Product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— STEP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Bringing It Together in Power BI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gold-layer tables feed a 3-page Power BI report — each page built for a different audience and question.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132A4A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1168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2468880"/>
            <a:ext cx="35204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031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313432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snapshot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E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ON THIS PAGE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3749040"/>
            <a:ext cx="3063240" cy="502920"/>
          </a:xfrm>
          <a:prstGeom prst="roundRect">
            <a:avLst>
              <a:gd name="adj" fmla="val 12727"/>
            </a:avLst>
          </a:prstGeom>
          <a:solidFill>
            <a:srgbClr val="0D1F38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8408" y="392734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216152" y="3749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343400"/>
            <a:ext cx="3063240" cy="502920"/>
          </a:xfrm>
          <a:prstGeom prst="roundRect">
            <a:avLst>
              <a:gd name="adj" fmla="val 12727"/>
            </a:avLst>
          </a:prstGeom>
          <a:solidFill>
            <a:srgbClr val="0D1F38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" y="452170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1216152" y="4343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(area)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937760"/>
            <a:ext cx="3063240" cy="502920"/>
          </a:xfrm>
          <a:prstGeom prst="roundRect">
            <a:avLst>
              <a:gd name="adj" fmla="val 12727"/>
            </a:avLst>
          </a:prstGeom>
          <a:solidFill>
            <a:srgbClr val="0D1F38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8408" y="511606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1216152" y="4937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5532120"/>
            <a:ext cx="3063240" cy="502920"/>
          </a:xfrm>
          <a:prstGeom prst="roundRect">
            <a:avLst>
              <a:gd name="adj" fmla="val 12727"/>
            </a:avLst>
          </a:prstGeom>
          <a:solidFill>
            <a:srgbClr val="0D1F38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8408" y="571042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1216152" y="5532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/ Pie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9120" y="201168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132A4A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0" y="201168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0A4C74"/>
          </a:solidFill>
          <a:ln/>
        </p:spPr>
      </p:sp>
      <p:sp>
        <p:nvSpPr>
          <p:cNvPr id="26" name="Shape 24"/>
          <p:cNvSpPr/>
          <p:nvPr/>
        </p:nvSpPr>
        <p:spPr>
          <a:xfrm>
            <a:off x="4389120" y="2468880"/>
            <a:ext cx="3520440" cy="320040"/>
          </a:xfrm>
          <a:prstGeom prst="rect">
            <a:avLst/>
          </a:prstGeom>
          <a:solidFill>
            <a:srgbClr val="0A4C74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21031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17720" y="2313432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Usage &amp; Adoption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617720" y="29260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actually get used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617720" y="34290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E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ON THIS PAGE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3749040"/>
            <a:ext cx="3063240" cy="502920"/>
          </a:xfrm>
          <a:prstGeom prst="roundRect">
            <a:avLst>
              <a:gd name="adj" fmla="val 12727"/>
            </a:avLst>
          </a:prstGeom>
          <a:solidFill>
            <a:srgbClr val="0D1F38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3168" y="3927348"/>
            <a:ext cx="146304" cy="146304"/>
          </a:xfrm>
          <a:prstGeom prst="ellipse">
            <a:avLst/>
          </a:prstGeom>
          <a:solidFill>
            <a:srgbClr val="0A4C74"/>
          </a:solidFill>
          <a:ln/>
        </p:spPr>
      </p:sp>
      <p:sp>
        <p:nvSpPr>
          <p:cNvPr id="33" name="Text 31"/>
          <p:cNvSpPr/>
          <p:nvPr/>
        </p:nvSpPr>
        <p:spPr>
          <a:xfrm>
            <a:off x="5010912" y="3749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17720" y="4343400"/>
            <a:ext cx="3063240" cy="502920"/>
          </a:xfrm>
          <a:prstGeom prst="roundRect">
            <a:avLst>
              <a:gd name="adj" fmla="val 12727"/>
            </a:avLst>
          </a:prstGeom>
          <a:solidFill>
            <a:srgbClr val="0D1F38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73168" y="4521708"/>
            <a:ext cx="146304" cy="146304"/>
          </a:xfrm>
          <a:prstGeom prst="ellipse">
            <a:avLst/>
          </a:prstGeom>
          <a:solidFill>
            <a:srgbClr val="0A4C74"/>
          </a:solidFill>
          <a:ln/>
        </p:spPr>
      </p:sp>
      <p:sp>
        <p:nvSpPr>
          <p:cNvPr id="36" name="Text 34"/>
          <p:cNvSpPr/>
          <p:nvPr/>
        </p:nvSpPr>
        <p:spPr>
          <a:xfrm>
            <a:off x="5010912" y="4343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17720" y="4937760"/>
            <a:ext cx="3063240" cy="502920"/>
          </a:xfrm>
          <a:prstGeom prst="roundRect">
            <a:avLst>
              <a:gd name="adj" fmla="val 12727"/>
            </a:avLst>
          </a:prstGeom>
          <a:solidFill>
            <a:srgbClr val="0D1F38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73168" y="5116068"/>
            <a:ext cx="146304" cy="146304"/>
          </a:xfrm>
          <a:prstGeom prst="ellipse">
            <a:avLst/>
          </a:prstGeom>
          <a:solidFill>
            <a:srgbClr val="0A4C74"/>
          </a:solidFill>
          <a:ln/>
        </p:spPr>
      </p:sp>
      <p:sp>
        <p:nvSpPr>
          <p:cNvPr id="39" name="Text 37"/>
          <p:cNvSpPr/>
          <p:nvPr/>
        </p:nvSpPr>
        <p:spPr>
          <a:xfrm>
            <a:off x="5010912" y="4937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(area)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17720" y="5532120"/>
            <a:ext cx="3063240" cy="502920"/>
          </a:xfrm>
          <a:prstGeom prst="roundRect">
            <a:avLst>
              <a:gd name="adj" fmla="val 12727"/>
            </a:avLst>
          </a:prstGeom>
          <a:solidFill>
            <a:srgbClr val="0D1F38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73168" y="5710428"/>
            <a:ext cx="146304" cy="146304"/>
          </a:xfrm>
          <a:prstGeom prst="ellipse">
            <a:avLst/>
          </a:prstGeom>
          <a:solidFill>
            <a:srgbClr val="0A4C74"/>
          </a:solidFill>
          <a:ln/>
        </p:spPr>
      </p:sp>
      <p:sp>
        <p:nvSpPr>
          <p:cNvPr id="42" name="Text 40"/>
          <p:cNvSpPr/>
          <p:nvPr/>
        </p:nvSpPr>
        <p:spPr>
          <a:xfrm>
            <a:off x="5010912" y="5532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183880" y="201168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132A4A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83880" y="201168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E8944A"/>
          </a:solidFill>
          <a:ln/>
        </p:spPr>
      </p:sp>
      <p:sp>
        <p:nvSpPr>
          <p:cNvPr id="45" name="Shape 43"/>
          <p:cNvSpPr/>
          <p:nvPr/>
        </p:nvSpPr>
        <p:spPr>
          <a:xfrm>
            <a:off x="8183880" y="2468880"/>
            <a:ext cx="3520440" cy="320040"/>
          </a:xfrm>
          <a:prstGeom prst="rect">
            <a:avLst/>
          </a:prstGeom>
          <a:solidFill>
            <a:srgbClr val="E8944A"/>
          </a:solidFill>
          <a:ln/>
        </p:spPr>
      </p:sp>
      <p:sp>
        <p:nvSpPr>
          <p:cNvPr id="46" name="Text 44"/>
          <p:cNvSpPr/>
          <p:nvPr/>
        </p:nvSpPr>
        <p:spPr>
          <a:xfrm>
            <a:off x="8412480" y="21031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412480" y="2313432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 &amp; Time-to-Value</a:t>
            </a:r>
            <a:endParaRPr lang="en-US" sz="1550" dirty="0"/>
          </a:p>
        </p:txBody>
      </p:sp>
      <p:sp>
        <p:nvSpPr>
          <p:cNvPr id="48" name="Text 46"/>
          <p:cNvSpPr/>
          <p:nvPr/>
        </p:nvSpPr>
        <p:spPr>
          <a:xfrm>
            <a:off x="8412480" y="29260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and depth of onboarding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412480" y="34290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E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ON THIS PAGE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412480" y="3749040"/>
            <a:ext cx="3063240" cy="502920"/>
          </a:xfrm>
          <a:prstGeom prst="roundRect">
            <a:avLst>
              <a:gd name="adj" fmla="val 12727"/>
            </a:avLst>
          </a:prstGeom>
          <a:solidFill>
            <a:srgbClr val="0D1F38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67928" y="3927348"/>
            <a:ext cx="146304" cy="146304"/>
          </a:xfrm>
          <a:prstGeom prst="ellipse">
            <a:avLst/>
          </a:prstGeom>
          <a:solidFill>
            <a:srgbClr val="E8944A"/>
          </a:solidFill>
          <a:ln/>
        </p:spPr>
      </p:sp>
      <p:sp>
        <p:nvSpPr>
          <p:cNvPr id="52" name="Text 50"/>
          <p:cNvSpPr/>
          <p:nvPr/>
        </p:nvSpPr>
        <p:spPr>
          <a:xfrm>
            <a:off x="8805672" y="3749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412480" y="4343400"/>
            <a:ext cx="3063240" cy="502920"/>
          </a:xfrm>
          <a:prstGeom prst="roundRect">
            <a:avLst>
              <a:gd name="adj" fmla="val 12727"/>
            </a:avLst>
          </a:prstGeom>
          <a:solidFill>
            <a:srgbClr val="0D1F38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67928" y="4521708"/>
            <a:ext cx="146304" cy="146304"/>
          </a:xfrm>
          <a:prstGeom prst="ellipse">
            <a:avLst/>
          </a:prstGeom>
          <a:solidFill>
            <a:srgbClr val="E8944A"/>
          </a:solidFill>
          <a:ln/>
        </p:spPr>
      </p:sp>
      <p:sp>
        <p:nvSpPr>
          <p:cNvPr id="55" name="Text 53"/>
          <p:cNvSpPr/>
          <p:nvPr/>
        </p:nvSpPr>
        <p:spPr>
          <a:xfrm>
            <a:off x="8805672" y="4343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(area)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412480" y="4937760"/>
            <a:ext cx="3063240" cy="502920"/>
          </a:xfrm>
          <a:prstGeom prst="roundRect">
            <a:avLst>
              <a:gd name="adj" fmla="val 12727"/>
            </a:avLst>
          </a:prstGeom>
          <a:solidFill>
            <a:srgbClr val="0D1F38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67928" y="5116068"/>
            <a:ext cx="146304" cy="146304"/>
          </a:xfrm>
          <a:prstGeom prst="ellipse">
            <a:avLst/>
          </a:prstGeom>
          <a:solidFill>
            <a:srgbClr val="E8944A"/>
          </a:solidFill>
          <a:ln/>
        </p:spPr>
      </p:sp>
      <p:sp>
        <p:nvSpPr>
          <p:cNvPr id="58" name="Text 56"/>
          <p:cNvSpPr/>
          <p:nvPr/>
        </p:nvSpPr>
        <p:spPr>
          <a:xfrm>
            <a:off x="8805672" y="4937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+ Pie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412480" y="5532120"/>
            <a:ext cx="3063240" cy="502920"/>
          </a:xfrm>
          <a:prstGeom prst="roundRect">
            <a:avLst>
              <a:gd name="adj" fmla="val 12727"/>
            </a:avLst>
          </a:prstGeom>
          <a:solidFill>
            <a:srgbClr val="0D1F38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567928" y="5710428"/>
            <a:ext cx="146304" cy="146304"/>
          </a:xfrm>
          <a:prstGeom prst="ellipse">
            <a:avLst/>
          </a:prstGeom>
          <a:solidFill>
            <a:srgbClr val="E8944A"/>
          </a:solidFill>
          <a:ln/>
        </p:spPr>
      </p:sp>
      <p:sp>
        <p:nvSpPr>
          <p:cNvPr id="61" name="Text 59"/>
          <p:cNvSpPr/>
          <p:nvPr/>
        </p:nvSpPr>
        <p:spPr>
          <a:xfrm>
            <a:off x="8805672" y="5532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NordicFlow CRM  |  Product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</a:t>
            </a: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Dashboard Snapshot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536192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483864" y="1536192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36208" y="1536192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988552" y="1536192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23" name="Text 19"/>
          <p:cNvSpPr/>
          <p:nvPr/>
        </p:nvSpPr>
        <p:spPr>
          <a:xfrm>
            <a:off x="7863840" y="6650177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NordicFlow CRM  |  Product Analytics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373E4DE-92ED-AFBC-9B9A-F71A2FC4F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34" y="995680"/>
            <a:ext cx="10974332" cy="571037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477520"/>
            <a:ext cx="10789920" cy="464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Activation and Churn Diverge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720840" y="16459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48640" y="6136640"/>
            <a:ext cx="11064240" cy="83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and Denmark combine high account volume with the highest churn rates (15.4% and 9.5%)</a:t>
            </a:r>
            <a:r>
              <a:rPr lang="en-US" sz="12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while sales-led and content channels activate meaningfully more accounts than paid search or product-led signup.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NordicFlow CRM  |  Product Analytics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7C962F0-E6B7-BA8C-CAF5-F3668F7F4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48" y="896112"/>
            <a:ext cx="10925504" cy="53400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FA902C-6224-65C8-B087-E96DD5448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AF0BEAD-C483-E35D-9404-C4D355D60124}"/>
              </a:ext>
            </a:extLst>
          </p:cNvPr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D021AB7-524C-B5BC-A97D-34FBB497E67D}"/>
              </a:ext>
            </a:extLst>
          </p:cNvPr>
          <p:cNvSpPr/>
          <p:nvPr/>
        </p:nvSpPr>
        <p:spPr>
          <a:xfrm>
            <a:off x="530352" y="477520"/>
            <a:ext cx="10789920" cy="464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8FCB223-C73E-4180-D814-DC83A96C1D91}"/>
              </a:ext>
            </a:extLst>
          </p:cNvPr>
          <p:cNvSpPr/>
          <p:nvPr/>
        </p:nvSpPr>
        <p:spPr>
          <a:xfrm>
            <a:off x="6720840" y="16459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567269B-F915-590B-02B1-F18A9B50231F}"/>
              </a:ext>
            </a:extLst>
          </p:cNvPr>
          <p:cNvSpPr/>
          <p:nvPr/>
        </p:nvSpPr>
        <p:spPr>
          <a:xfrm>
            <a:off x="548640" y="6136640"/>
            <a:ext cx="11064240" cy="83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and Denmark combine high account volume with the highest churn rates (15.4% and 9.5%)</a:t>
            </a:r>
            <a:r>
              <a:rPr lang="en-US" sz="12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while sales-led and content channels activate meaningfully more accounts than paid search or product-led signup.</a:t>
            </a:r>
            <a:endParaRPr lang="en-US" sz="125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5BCBC1-AD08-3DB7-75D1-2FD931B3AF9C}"/>
              </a:ext>
            </a:extLst>
          </p:cNvPr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E59D542-66DF-54CF-F722-5EE7BE7ED7E9}"/>
              </a:ext>
            </a:extLst>
          </p:cNvPr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NordicFlow CRM  |  Product Analytics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937516-F570-3E94-9B00-106E179EA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22" y="658368"/>
            <a:ext cx="10958258" cy="570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136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NordicFlow Should Do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383280" cy="2148840"/>
          </a:xfrm>
          <a:prstGeom prst="roundRect">
            <a:avLst>
              <a:gd name="adj" fmla="val 4255"/>
            </a:avLst>
          </a:prstGeom>
          <a:solidFill>
            <a:srgbClr val="10203A"/>
          </a:solidFill>
          <a:ln w="12700">
            <a:solidFill>
              <a:srgbClr val="2740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1368"/>
            <a:ext cx="137160" cy="1746504"/>
          </a:xfrm>
          <a:prstGeom prst="roundRect">
            <a:avLst>
              <a:gd name="adj" fmla="val 46667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8308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Redesign onboarding for low-activation industries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2697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B9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 (0.3%) and B2B Agency (0.5%) lag far behind SaaS (2.0%). Build industry-specific onboarding playbooks around their most common workflows.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87952" y="1600200"/>
            <a:ext cx="3383280" cy="2148840"/>
          </a:xfrm>
          <a:prstGeom prst="roundRect">
            <a:avLst>
              <a:gd name="adj" fmla="val 4255"/>
            </a:avLst>
          </a:prstGeom>
          <a:solidFill>
            <a:srgbClr val="10203A"/>
          </a:solidFill>
          <a:ln w="12700">
            <a:solidFill>
              <a:srgbClr val="2740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801368"/>
            <a:ext cx="137160" cy="1746504"/>
          </a:xfrm>
          <a:prstGeom prst="roundRect">
            <a:avLst>
              <a:gd name="adj" fmla="val 46667"/>
            </a:avLst>
          </a:prstGeom>
          <a:solidFill>
            <a:srgbClr val="0A4C74"/>
          </a:solidFill>
          <a:ln/>
        </p:spPr>
      </p:sp>
      <p:sp>
        <p:nvSpPr>
          <p:cNvPr id="10" name="Text 8"/>
          <p:cNvSpPr/>
          <p:nvPr/>
        </p:nvSpPr>
        <p:spPr>
          <a:xfrm>
            <a:off x="4645152" y="178308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down on sales-led and content acquisition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45152" y="2468880"/>
            <a:ext cx="2697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B9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channels activate the most accounts (28 and 25). Shift growth budget and rep time toward them before scaling paid search or self-serve product-led signup.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27264" y="1600200"/>
            <a:ext cx="3383280" cy="2148840"/>
          </a:xfrm>
          <a:prstGeom prst="roundRect">
            <a:avLst>
              <a:gd name="adj" fmla="val 4255"/>
            </a:avLst>
          </a:prstGeom>
          <a:solidFill>
            <a:srgbClr val="10203A"/>
          </a:solidFill>
          <a:ln w="12700">
            <a:solidFill>
              <a:srgbClr val="2740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28432" y="1801368"/>
            <a:ext cx="137160" cy="1746504"/>
          </a:xfrm>
          <a:prstGeom prst="roundRect">
            <a:avLst>
              <a:gd name="adj" fmla="val 46667"/>
            </a:avLst>
          </a:prstGeom>
          <a:solidFill>
            <a:srgbClr val="E8944A"/>
          </a:solidFill>
          <a:ln/>
        </p:spPr>
      </p:sp>
      <p:sp>
        <p:nvSpPr>
          <p:cNvPr id="14" name="Text 12"/>
          <p:cNvSpPr/>
          <p:nvPr/>
        </p:nvSpPr>
        <p:spPr>
          <a:xfrm>
            <a:off x="8284464" y="178308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a proactive save motion in France and Denmark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84464" y="2468880"/>
            <a:ext cx="2697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B9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highest-churn markets (15.4%, 9.5%) also carry large account volumes. Trigger Customer Success outreach the moment early usage signals stall.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230368" cy="2148840"/>
          </a:xfrm>
          <a:prstGeom prst="roundRect">
            <a:avLst>
              <a:gd name="adj" fmla="val 4255"/>
            </a:avLst>
          </a:prstGeom>
          <a:solidFill>
            <a:srgbClr val="10203A"/>
          </a:solidFill>
          <a:ln w="12700">
            <a:solidFill>
              <a:srgbClr val="2740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178808"/>
            <a:ext cx="137160" cy="1746504"/>
          </a:xfrm>
          <a:prstGeom prst="roundRect">
            <a:avLst>
              <a:gd name="adj" fmla="val 46667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160520"/>
            <a:ext cx="4544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Redefine “engagement” around core actions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709160"/>
            <a:ext cx="45445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pipeline configuration, deal progression and automation — not logins — as the activation signal, so every team reports the same number.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3977640"/>
            <a:ext cx="5230368" cy="2148840"/>
          </a:xfrm>
          <a:prstGeom prst="roundRect">
            <a:avLst>
              <a:gd name="adj" fmla="val 4255"/>
            </a:avLst>
          </a:prstGeom>
          <a:solidFill>
            <a:srgbClr val="10203A"/>
          </a:solidFill>
          <a:ln w="12700">
            <a:solidFill>
              <a:srgbClr val="2740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4178808"/>
            <a:ext cx="137160" cy="1746504"/>
          </a:xfrm>
          <a:prstGeom prst="roundRect">
            <a:avLst>
              <a:gd name="adj" fmla="val 46667"/>
            </a:avLst>
          </a:prstGeom>
          <a:solidFill>
            <a:srgbClr val="6FA8C9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160520"/>
            <a:ext cx="4544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Establish one governed source of truth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4709160"/>
            <a:ext cx="45445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entities like country codes and channel labels at ingestion (this project found join mismatches from inconsistent codes) so every dashboard agrees.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SQL &amp; Power BI findings from the Gold layer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NordicFlow CRM  |  Product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6217920" cy="6217920"/>
          </a:xfrm>
          <a:prstGeom prst="ellipse">
            <a:avLst/>
          </a:prstGeom>
          <a:solidFill>
            <a:srgbClr val="0A4C7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840480"/>
            <a:ext cx="4754880" cy="4754880"/>
          </a:xfrm>
          <a:prstGeom prst="ellipse">
            <a:avLst/>
          </a:prstGeom>
          <a:solidFill>
            <a:srgbClr val="1C7293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1430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a Decision-Ready Story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turned scattered CSV/Excel exports into a governed Python → SQL → Power BI pipeline, and the resulting numbers tell a clear story: NordicFlow's activation problem is uneven across industries and channels, and its churn risk is concentrated in a few key markets — both fixable with targeted, not company-wide, action.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95528" y="4142232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402336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fact tables with historical cohorts to trend activation and churn over 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" y="4581144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4462272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Silver → Gold refresh so the dashboard stays current without manual reruns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" y="5020056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078992" y="4901184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the Executive Overview page out as the single shared source of truth across teams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32520" y="2103120"/>
            <a:ext cx="2880360" cy="3703320"/>
          </a:xfrm>
          <a:prstGeom prst="roundRect">
            <a:avLst>
              <a:gd name="adj" fmla="val 3810"/>
            </a:avLst>
          </a:prstGeom>
          <a:solidFill>
            <a:srgbClr val="10203A"/>
          </a:solidFill>
          <a:ln w="12700">
            <a:solidFill>
              <a:srgbClr val="2740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23317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961120" y="26974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961120" y="31729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961120" y="348386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961120" y="395935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61120" y="42702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961120" y="474573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961120" y="50566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7.2%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961120" y="5532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Churn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SQL  •  Power BI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1534</Words>
  <Application>Microsoft Office PowerPoint</Application>
  <PresentationFormat>Widescreen</PresentationFormat>
  <Paragraphs>235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Boby .</cp:lastModifiedBy>
  <cp:revision>2</cp:revision>
  <dcterms:created xsi:type="dcterms:W3CDTF">2026-07-23T17:02:09Z</dcterms:created>
  <dcterms:modified xsi:type="dcterms:W3CDTF">2026-07-23T18:04:26Z</dcterms:modified>
</cp:coreProperties>
</file>